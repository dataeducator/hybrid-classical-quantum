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13716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F1F1F"/>
                </a:solidFill>
              </a:defRPr>
            </a:pPr>
            <a:r>
              <a:t>Hybrid Quantum-Classical Neural Networks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6C1A42"/>
                </a:solidFill>
              </a:defRPr>
            </a:pPr>
            <a:r>
              <a:t>Personalized Survival Prediction in Triple-Negative Breast Cancer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555555"/>
                </a:solidFill>
              </a:defRPr>
            </a:pPr>
            <a:r>
              <a:t>A Fairness-Aware, Survival-Analytic Modeling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F1F1F"/>
                </a:solidFill>
              </a:defRPr>
            </a:pPr>
            <a:r>
              <a:t>Jaclyn Claiborne and Tenicka Norwood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555555"/>
                </a:solidFill>
              </a:defRPr>
            </a:pPr>
            <a:r>
              <a:t>MSDS 730: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55555"/>
                </a:solidFill>
              </a:defRPr>
            </a:pPr>
            <a:r>
              <a:t>Meharry Medical College | Spring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6BDC47-C8CD-31E6-4CED-5E1317FC7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5029200"/>
            <a:ext cx="2341067" cy="1505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35641F-04F2-C0E0-8B96-B9BB4E0A7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4572000"/>
            <a:ext cx="2120705" cy="2120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rPr dirty="0">
                <a:latin typeface="+mj-lt"/>
              </a:rPr>
              <a:t>• Triple-negative breast cancer (TNBC) is the most aggressive subtype.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>
                <a:latin typeface="+mj-lt"/>
              </a:rPr>
              <a:t>• Predicting individual survival informs treatment but is hard with right-censored data.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>
                <a:latin typeface="+mj-lt"/>
              </a:rPr>
              <a:t>• Existing models often perform worse on minority subpopulations.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t>• Health equity: Black women have 2x TNBC incidence and worse outcomes.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Clinical decision support: better risk stratification informs care.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Methodology: rigorous leakage auditing for clinical ML pipelines.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C49A2A"/>
                </a:solidFill>
              </a:defRPr>
            </a:pPr>
            <a:r>
              <a:t>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t>• Oncologists making treatment-planning decisions.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Patients receiving personalized risk estimates.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Policy researchers studying disparities in clinical AI.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ML practitioners building survival models on registry data.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4C4A36-419C-9AFF-0BB0-7B49B76EA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133" y="231517"/>
            <a:ext cx="2341067" cy="150584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782DEF-DA2C-2E91-FC44-BDF40DA939CD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9564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Related Work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Existing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t>• Cox proportional hazards (Cox 1972) — gold-standard for tabular survival.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DeepSurv (Katzman et al. 2018) — neural Cox via partial likelihood.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Variational quantum circuits for classification (Schuld 2021, Benedetti 2019).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Data re-uploading universal classifiers (Pérez-Salinas et al. 2020).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Algorithm fairness in clinical AI (Chen et al. 2023, Raza et al. 2024).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Gap we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t>• First TNBC survival study using hybrid quantum-classical with Cox loss.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Automated leakage auditing as a methodology contribution.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Subgroup C-index fairness for survival models (vs naive binary fairness).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Mathematically guaranteed quantum residual learning framework (≥ Cox PH).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E6F117-7C71-7E21-2A9D-0437801DB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274320"/>
            <a:ext cx="2341067" cy="15058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03A6782-2AD5-B41B-EC1E-1E011B7C758C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3796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Dataset: SEER TNBC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145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rPr dirty="0"/>
              <a:t>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19627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SEER Surveillance, Epidemiology, and End Results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dirty="0"/>
              <a:t>    – https://seer.cancer.gov/data/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Filtered to TNBC: ER−, PR−, HER2−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750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Cohort sizes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55723"/>
            <a:ext cx="54864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Raw export: 31,683 patients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After right-censoring fix: 20,110 patients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dirty="0"/>
              <a:t>    • 4,022 events (deaths within 60 mo</a:t>
            </a:r>
            <a:r>
              <a:rPr lang="en-US" dirty="0"/>
              <a:t>nths</a:t>
            </a:r>
            <a:r>
              <a:rPr dirty="0"/>
              <a:t>)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dirty="0"/>
              <a:t>    • 16,088 confirmed survivors at 60 mo</a:t>
            </a:r>
            <a:r>
              <a:rPr lang="en-US" dirty="0"/>
              <a:t>nths</a:t>
            </a:r>
            <a:endParaRPr dirty="0"/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Train / test: 80/20 stratified, seed=42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0066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C49A2A"/>
                </a:solidFill>
              </a:defRPr>
            </a:pPr>
            <a:r>
              <a:t>Features (27 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57865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t>• 7 quantum features: stage, age, tumor size, income, treatment timing, etc.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20 classical features: race (6 cat), marital, subtype, surgery, chemo, etc.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Modality: structured tabular clinical/demographic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8266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C49A2A"/>
                </a:solidFill>
              </a:defRPr>
            </a:pPr>
            <a:r>
              <a:rPr dirty="0"/>
              <a:t>Class distribution (binary @ 60mo)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32832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76% positive (alive at 60+ mo</a:t>
            </a:r>
            <a:r>
              <a:rPr lang="en-US" dirty="0"/>
              <a:t>nths</a:t>
            </a:r>
            <a:r>
              <a:rPr dirty="0"/>
              <a:t>) | 24% negative (deceased)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Severely imbalanced → class-weighted loss for neural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9A60C9-C4A4-FFE6-4023-16243ACAF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106173"/>
            <a:ext cx="2341067" cy="150584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5C5C57-D3F3-D4A8-A250-3C6373A540F7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Preprocessing &amp; Data Leakage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Cleaning &amp;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t>• Tumor size: backfilled from CS_tumor_size column, then median-filled.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Race encoding: 6 SEER categories preserved (incl Non-Hispanic Unknown).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Quantum features: MinMax scaled to [0, π] for RY rotation encoding.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Classical features: StandardScaler (μ=0, σ=1).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Right-censoring: drop alive patients with &lt;60 mo follow-up (label noise).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6C1A42"/>
                </a:solidFill>
              </a:defRPr>
            </a:pPr>
            <a:r>
              <a:t>Leakage audit (3 automated checks)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t>• Per-feature AUC &gt; 0.95: flagged Year_of_follow_up_recode (AUC=0.98). EXCLUDED.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Feature-target correlation &gt; 0.90: PASS.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Train/test KS distribution shift: PASS.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t>• → Leak removal alone dropped pilot AUC from 0.92 → ~0.74 (honest).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F788A-693D-7BAF-49B9-F5FA25F6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106173"/>
            <a:ext cx="2341067" cy="15058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06CB8DD-FBBC-BC7D-D6A7-53C8330A287D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Methodology: Hybrid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Three model generations + residual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2006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v1 (baseline): 7-qubit VQC, single-layer RY, ring CNOT, single Z-measurement → 1D scalar.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v2: 3-layer VQC + data re-uploading + RY/RZ + shifted-ring CNOT + all-qubit Z → 7D embedding.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v3: v2 + trainable input scaling + ZZ correlator measurements → 14D embedding.</a:t>
            </a:r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v4: v3 + classical pre-training + learnable output scale/bias + smaller </a:t>
            </a:r>
            <a:r>
              <a:rPr dirty="0" err="1"/>
              <a:t>init.</a:t>
            </a:r>
            <a:endParaRPr dirty="0"/>
          </a:p>
          <a:p>
            <a:pPr>
              <a:defRPr sz="1600">
                <a:solidFill>
                  <a:srgbClr val="1F1F1F"/>
                </a:solidFill>
              </a:defRPr>
            </a:pPr>
            <a:r>
              <a:rPr dirty="0"/>
              <a:t>• Cox + Quantum Residual: fixed Cox PH offset + small quantum correction (the winner).</a:t>
            </a:r>
          </a:p>
        </p:txBody>
      </p:sp>
      <p:pic>
        <p:nvPicPr>
          <p:cNvPr id="5" name="Picture 4" descr="tikz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971477"/>
            <a:ext cx="4572000" cy="56122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6C1A42"/>
                </a:solidFill>
              </a:defRPr>
            </a:pPr>
            <a:r>
              <a:t>Residual learning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1F1F1F"/>
                </a:solidFill>
              </a:defRPr>
            </a:pPr>
            <a:r>
              <a:t>h_total(x) = h_Cox(x) + s · q_θ(x)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1">
                <a:solidFill>
                  <a:srgbClr val="555555"/>
                </a:solidFill>
              </a:defRPr>
            </a:pPr>
            <a:r>
              <a:t>At init: q_θ ≈ 0 → model = Cox PH. Training only improves on Cox.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59519F-17F9-63B0-A0EB-27709D7CB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573" y="140077"/>
            <a:ext cx="2341067" cy="15058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8027DEF-1F01-C872-53E2-56E879BB21E8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Methodology: Training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442401"/>
              </p:ext>
            </p:extLst>
          </p:nvPr>
        </p:nvGraphicFramePr>
        <p:xfrm>
          <a:off x="457200" y="1280160"/>
          <a:ext cx="778668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1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6C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6C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Loss (survival)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Cox partial likelihood (negative log)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Loss (binary)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BCEWithLogitsLoss with class </a:t>
                      </a:r>
                      <a:r>
                        <a:rPr sz="1800" dirty="0" err="1">
                          <a:solidFill>
                            <a:srgbClr val="1F1F1F"/>
                          </a:solidFill>
                        </a:rPr>
                        <a:t>pos_weight</a:t>
                      </a:r>
                      <a:endParaRPr sz="1800" dirty="0">
                        <a:solidFill>
                          <a:srgbClr val="1F1F1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Adam, lr=0.001 (lr=0.005 for v4 pretrain)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LR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CosineAnnealingLR (1e-3 → 1e-5) for v2-v4 + Residual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Epochs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50 (v1) | 75 (v2-v4) | 15 (Residual) | 20 (full-data)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Full-batch on 2k subsample (v1-v3) | 256 mini-batch on full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Quantum simulator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PennyLane lightning.qubit (CPU)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NVIDIA RTX 5080, PyTorch 2.10.0, CUDA 12.8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Seed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42 across Python/NumPy/PyTorch/CUDA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AEF5352-DA20-1EE8-EB9C-810CCE14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106173"/>
            <a:ext cx="2341067" cy="15058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7E79F1-F2DC-3888-B289-294C1A65770E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4436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Results: Survival Ablation (C-index)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495241"/>
              </p:ext>
            </p:extLst>
          </p:nvPr>
        </p:nvGraphicFramePr>
        <p:xfrm>
          <a:off x="457200" y="1560195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6C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Test C-index</a:t>
                      </a:r>
                    </a:p>
                  </a:txBody>
                  <a:tcPr>
                    <a:solidFill>
                      <a:srgbClr val="6C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Subgroup Gap</a:t>
                      </a:r>
                    </a:p>
                  </a:txBody>
                  <a:tcPr>
                    <a:solidFill>
                      <a:srgbClr val="6C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Time (s)</a:t>
                      </a:r>
                    </a:p>
                  </a:txBody>
                  <a:tcPr>
                    <a:solidFill>
                      <a:srgbClr val="6C1A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Train N</a:t>
                      </a:r>
                    </a:p>
                  </a:txBody>
                  <a:tcPr>
                    <a:solidFill>
                      <a:srgbClr val="6C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Cox PH (lifelines)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0.7326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0.0842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16,088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HybridSurvivalQ_v1 (subsample)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HybridSurvivalQ_v2 (subsample)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0.5759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575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2,000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HybridSurvivalQ_v3 (subsample)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HybridSurvivalQ_v1 (full data)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0.6897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651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16,088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HybridSurvivalQ_v2 (full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16,088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HybridSurvivalQ_v3 (full data)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0.6674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0.1614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1,038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16,088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HybridSurvivalQ_v4 (full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0.0371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1,321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16,088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Cox + Quantum Residual ★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0.7364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0.0754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1,237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16,088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3219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6C1A42"/>
                </a:solidFill>
              </a:defRPr>
            </a:pPr>
            <a:r>
              <a:t>★ Only model that beats classical baseline (+0.0038 over Cox PH).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40BE5-94B6-FC2B-8886-629883702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466" y="47178"/>
            <a:ext cx="2341067" cy="15058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0C47B7-8155-9173-B305-B983F6D1C3A9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Results: Binary Ablation (AUC at 60 months)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456588"/>
              </p:ext>
            </p:extLst>
          </p:nvPr>
        </p:nvGraphicFramePr>
        <p:xfrm>
          <a:off x="457200" y="1608772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Train N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LightGBM (full, balanced)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0.7462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0.8715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0.7173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0.7869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XGBoost (full, 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Cox + Residual @ 60mo (cross-fwk)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0.7426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0.8594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0.7255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0.7868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Cox PH @ 60mo (cross-fwk)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HybridRealQ_v4 (full, output scale)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0.6863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0.8535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0.6088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0.7107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HybridRealQ_v3 (full 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Ensemble (v3-full + MLP)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0.6770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0.8728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0.4740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0.6143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HybridRealQ_v2 (subsample)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0.3588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Classical MLP (full, weighted)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0.5792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0.8120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0.5434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0.6511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15,673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HybridRealQ_v3 (subsample)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HybridRealQ_v1 (subsample)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0.5649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0.8228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0.6972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0.7548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2,000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26720" y="63636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1">
                <a:solidFill>
                  <a:srgbClr val="555555"/>
                </a:solidFill>
              </a:defRPr>
            </a:pPr>
            <a:r>
              <a:rPr dirty="0"/>
              <a:t>Key finding: </a:t>
            </a:r>
            <a:r>
              <a:rPr dirty="0" err="1"/>
              <a:t>Cox+Residual</a:t>
            </a:r>
            <a:r>
              <a:rPr dirty="0"/>
              <a:t> evaluated at 60mo (AUC 0.7426) is competitive with LightGBM (0.7462). Cross-framework consistency.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76816-076C-4FC3-60A5-3A2192427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106173"/>
            <a:ext cx="2341067" cy="15058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EE30F0-80D0-4D44-BA8E-A0A95951BAF4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9864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Results: Subgroup Fairness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681557"/>
              </p:ext>
            </p:extLst>
          </p:nvPr>
        </p:nvGraphicFramePr>
        <p:xfrm>
          <a:off x="457200" y="1726122"/>
          <a:ext cx="10972800" cy="430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Subgroup</a:t>
                      </a:r>
                    </a:p>
                  </a:txBody>
                  <a:tcPr>
                    <a:solidFill>
                      <a:srgbClr val="C49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C49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Events</a:t>
                      </a:r>
                    </a:p>
                  </a:txBody>
                  <a:tcPr>
                    <a:solidFill>
                      <a:srgbClr val="C49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Cox PH C-idx</a:t>
                      </a:r>
                    </a:p>
                  </a:txBody>
                  <a:tcPr>
                    <a:solidFill>
                      <a:srgbClr val="C49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Cox + Residual C-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</a:rPr>
                        <a:t>idx</a:t>
                      </a:r>
                      <a:endParaRPr sz="20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49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Non-Hispanic White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2,218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598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0.7267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0.7300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Non-Hispanic 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0.7176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Hispanic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716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218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0.7119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0.7263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Non-Hispanic Asian/PI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0.7486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Non-Hispanic AIAN*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0.7962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0.7930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Non-Hispanic Unknown†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Subgroup gap (max-min)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F1F1F"/>
                          </a:solidFill>
                        </a:rPr>
                        <a:t>0.0842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F1F1F"/>
                          </a:solidFill>
                        </a:rPr>
                        <a:t>0.0754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5883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555555"/>
                </a:solidFill>
              </a:defRPr>
            </a:pPr>
            <a:r>
              <a:rPr dirty="0"/>
              <a:t>* Small sample (11 events) → high variance; † N&lt;20 events&lt;5 → audit excluded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4171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1">
                <a:solidFill>
                  <a:srgbClr val="1F1F1F"/>
                </a:solidFill>
              </a:defRPr>
            </a:pPr>
            <a:r>
              <a:rPr dirty="0"/>
              <a:t>Survival framing produces more uniform subgroup performance than binary framing.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606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rPr dirty="0"/>
              <a:t>All major subgroups achieve C-index ≥ 0.71. Residual model tightens the gap (0.0842 → 0.0754).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D97351-1D3F-F421-E429-65F5E3FD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106173"/>
            <a:ext cx="2341067" cy="15058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4F71F1-04B4-E77A-8B2D-00F9506AAA65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Results: Training Dynamics</a:t>
            </a:r>
          </a:p>
        </p:txBody>
      </p:sp>
      <p:pic>
        <p:nvPicPr>
          <p:cNvPr id="3" name="Picture 2" descr="survival_training_curve.png"/>
          <p:cNvPicPr>
            <a:picLocks noChangeAspect="1"/>
          </p:cNvPicPr>
          <p:nvPr/>
        </p:nvPicPr>
        <p:blipFill>
          <a:blip r:embed="rId2"/>
          <a:srcRect t="10471" r="49779"/>
          <a:stretch>
            <a:fillRect/>
          </a:stretch>
        </p:blipFill>
        <p:spPr>
          <a:xfrm>
            <a:off x="1733875" y="803643"/>
            <a:ext cx="5044408" cy="31075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235743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1A6C5E"/>
                </a:solidFill>
              </a:defRPr>
            </a:pPr>
            <a:r>
              <a:t>Two-phase v4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814637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rPr dirty="0"/>
              <a:t>• Phase 1: classical pretrain plateaus at 0.56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rPr dirty="0"/>
              <a:t>• Phase 2: quantum branch enabled → jumps to 0.70 in 4 epochs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rPr dirty="0"/>
              <a:t>• Final: 0.7249 just below Cox PH 0.7326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6C1A42"/>
                </a:solidFill>
              </a:defRPr>
            </a:pPr>
            <a:r>
              <a:t>Residual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75488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Starts at Cox PH C-idx 0.7326 by construction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• Climbs steadily to 0.7364 over 9 epochs</a:t>
            </a:r>
          </a:p>
          <a:p>
            <a:pPr>
              <a:defRPr sz="1300">
                <a:solidFill>
                  <a:srgbClr val="1F1F1F"/>
                </a:solidFill>
              </a:defRPr>
            </a:pPr>
            <a:r>
              <a:t>• Quantum correction grows σ: 0.005 → 0.205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DEC61F-6C7B-58AC-A356-FBBE84A23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991" y="332958"/>
            <a:ext cx="2341067" cy="1505843"/>
          </a:xfrm>
          <a:prstGeom prst="rect">
            <a:avLst/>
          </a:prstGeom>
        </p:spPr>
      </p:pic>
      <p:pic>
        <p:nvPicPr>
          <p:cNvPr id="10" name="Picture 9" descr="survival_training_curve.png">
            <a:extLst>
              <a:ext uri="{FF2B5EF4-FFF2-40B4-BE49-F238E27FC236}">
                <a16:creationId xmlns:a16="http://schemas.microsoft.com/office/drawing/2014/main" id="{AB5C4428-4B03-1D43-E5B6-A7990569E7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79" t="12547"/>
          <a:stretch>
            <a:fillRect/>
          </a:stretch>
        </p:blipFill>
        <p:spPr>
          <a:xfrm>
            <a:off x="1733876" y="3802161"/>
            <a:ext cx="5078172" cy="30558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6F21A44-BF8D-769B-C8A1-913F6C2A5C1E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Discussion: What Worked &amp; Didn't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7447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rPr dirty="0"/>
              <a:t>What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31670"/>
            <a:ext cx="432911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1F1F"/>
                </a:solidFill>
              </a:defRPr>
            </a:pPr>
            <a:r>
              <a:rPr dirty="0"/>
              <a:t>• </a:t>
            </a:r>
            <a:r>
              <a:rPr sz="1600" dirty="0"/>
              <a:t>Automated leakage auditing caught a critical leak.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Survival framing avoided right-censoring label noise.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Output scale layer in v4: 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AUC ~0.58 → 0.72.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Mini-batch on full data: 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subsample 0.59 → 0.69 (v1) and 0.58 → 0.72 (v2).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Quantum residual learning beats Cox PH on both metrics.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Subgroup C-index gap tightened by residual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7386" y="147447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6C1A42"/>
                </a:solidFill>
              </a:defRPr>
            </a:pPr>
            <a:r>
              <a:rPr dirty="0"/>
              <a:t>What didn't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7386" y="1931670"/>
            <a:ext cx="361083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Subsample-only neural models (v1-v3) couldn't escape AUC 0.55-0.60.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Naive ensembling (v3-full + MLP): 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worse than v3-full alone.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Classical MLP on imbalanced data: 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AUC 0.58 even with class weighting.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Quantum-only architecture: 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cannot exploit classical features.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Per-sample quantum simulation: 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limits epoch count and grid search.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E86A5-607F-6647-418B-FDC8CE37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253" y="274320"/>
            <a:ext cx="2341067" cy="15058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6AFC522-7209-425D-EDE1-EA8F448C8D04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6457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Key 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Key challenges encountered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Discovering Year_of_follow_up_recode leakage forced complete re-analysis.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Switching from binary to survival framing required new loss + new evaluation.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Cox loss has flat gradients without output rescaling → v4 output scale fix.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Per-sample quantum simulation cost: 4-15s per epoch on subsample.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4727"/>
            <a:ext cx="5532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6C1A42"/>
                </a:solidFill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1835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Single train/test split (cross-validation prohibitively expensive).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Noiseless simulator only; real quantum hardware would degrade.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Small subgroups (AIAN N=36, Unknown N=18) limit fairness audit power.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Right-censoring assumed non-informative.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Cohort: SEER TNBC only, may not transfer to other cancers/subtypes.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743CA6-0F78-DE98-D688-329770495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733" y="268650"/>
            <a:ext cx="2341067" cy="15058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0CF1E2-A95B-DBF3-7C93-4D6420325FF6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1A6C5E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3937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Rigorous leakage auditing is essential: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 caught Year_of_follow_up_recode (AUC 0.98).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Cox + Quantum Residual achieves C-index 0.7364, beating Cox PH 0.7326 (+0.0038).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Mathematically guaranteed ≥ Cox PH performance via residual offset framework.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Cross-framework consistency:</a:t>
            </a:r>
            <a:endParaRPr lang="en-US" sz="1600" dirty="0"/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lang="en-US" sz="1600" dirty="0"/>
              <a:t>	</a:t>
            </a:r>
            <a:r>
              <a:rPr sz="1600" dirty="0"/>
              <a:t>residual @60mo AUC 0.7426 vs LightGBM 0.7462.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Subgroup C-index gap 0.0754 (residual) vs 0.0842 (Cox PH alone).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C49A2A"/>
                </a:solidFill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591546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k-fold cross-validation when GPU-accelerated quantum simulators are available.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Run on real quantum hardware (IBM Q, IonQ) to assess noise impact.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Quantum kernel + Cox PH: drop variational training, use fixed feature maps.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Extend to other cancer types and external validation cohorts.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rPr sz="1600" dirty="0"/>
              <a:t>• Fairness-constrained Cox loss for subgroup parity.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986FD-F7F5-D71F-C132-D8F154D43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253" y="274320"/>
            <a:ext cx="2341067" cy="15058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14CF011-FA34-C85E-0736-409421ACE75E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C1A42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6C1A42"/>
                </a:solidFill>
              </a:defRPr>
            </a:pPr>
            <a:r>
              <a:rPr dirty="0"/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2C5F8A"/>
                </a:solidFill>
              </a:defRPr>
            </a:pPr>
            <a:r>
              <a:t>Code:  github.com/dataeducator/hybrid-classical-quantum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55555"/>
                </a:solidFill>
              </a:defRPr>
            </a:pPr>
            <a:r>
              <a:t>Key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Cox, D.R. (1972). Regression Models and Life-Tables. JRSS-B 34:187-220.</a:t>
            </a:r>
          </a:p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Katzman et al. (2018). DeepSurv. BMC Med Res Methodol 18:24.</a:t>
            </a:r>
          </a:p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Pérez-Salinas et al. (2020). Data re-uploading universal classifier. Quantum 4:226.</a:t>
            </a:r>
          </a:p>
          <a:p>
            <a:pPr algn="ctr">
              <a:defRPr sz="1200" b="0" i="0">
                <a:solidFill>
                  <a:srgbClr val="555555"/>
                </a:solidFill>
              </a:defRPr>
            </a:pPr>
            <a:r>
              <a:t>Qiu et al. (2024). TNBC survival prediction. Front Oncol 14:1388869.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CF8A32-BB7B-7C93-51BC-30370D0B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253" y="274320"/>
            <a:ext cx="2341067" cy="15058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749236-3B75-CB51-8C5A-AF23D8812F1E}"/>
              </a:ext>
            </a:extLst>
          </p:cNvPr>
          <p:cNvSpPr/>
          <p:nvPr/>
        </p:nvSpPr>
        <p:spPr>
          <a:xfrm>
            <a:off x="1" y="0"/>
            <a:ext cx="168811" cy="6858000"/>
          </a:xfrm>
          <a:prstGeom prst="rect">
            <a:avLst/>
          </a:prstGeom>
          <a:solidFill>
            <a:srgbClr val="6C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1832</Words>
  <Application>Microsoft Office PowerPoint</Application>
  <PresentationFormat>Widescreen</PresentationFormat>
  <Paragraphs>325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Norwood, Tenicka T.</cp:lastModifiedBy>
  <cp:revision>2</cp:revision>
  <dcterms:created xsi:type="dcterms:W3CDTF">2013-01-27T09:14:16Z</dcterms:created>
  <dcterms:modified xsi:type="dcterms:W3CDTF">2026-04-28T17:27:44Z</dcterms:modified>
  <cp:category/>
</cp:coreProperties>
</file>